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90" r:id="rId12"/>
    <p:sldId id="289" r:id="rId13"/>
    <p:sldId id="270" r:id="rId14"/>
    <p:sldId id="260" r:id="rId15"/>
    <p:sldId id="261" r:id="rId16"/>
    <p:sldId id="262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50" y="-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BB23-607B-4BDD-BB80-90F05998C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B8819-7C9B-45EB-8860-50948ABFA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77C64-43D1-4B10-80CC-0E0292C2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A747-60E4-4216-A02A-046807B9A4A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3E2C8-CB3D-4628-89F3-0DC15B30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077D0-A01F-4499-BEB0-6D01665D1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1D6A-7DC3-4E64-BF3B-1452E7C2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7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81B8-A5CD-4D34-84CD-CC323667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949E1-3AF9-4929-9BA4-ACF93A189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84D57-8C8B-464C-9167-38F4E9B7A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A747-60E4-4216-A02A-046807B9A4A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D37A5-6146-43C1-B812-47A52E07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F95AF-67CE-4479-9DC6-B5F013D8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1D6A-7DC3-4E64-BF3B-1452E7C2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966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378F-A9BE-4435-9FBE-47CAF70D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CB252-D636-427F-8CE3-075DDACDE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FD33C-D6FF-411B-B027-6886AAD8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A747-60E4-4216-A02A-046807B9A4A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91C1C-9D9A-4D98-9E38-73B4573C7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8A506-9FD5-4919-A6FE-10B04C66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1D6A-7DC3-4E64-BF3B-1452E7C2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120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09BF-447B-4AB4-910D-EA9BE0B26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012E8-AE04-4C09-AAB4-29DE792A1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9A828-5384-4E18-8033-A10E6F77A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DFAE5-D3B3-4406-B2C2-357942F04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A747-60E4-4216-A02A-046807B9A4A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11C5C-F6C2-47F5-B41C-8C601F86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3F5A5-2C4F-4BF0-B090-7924C44D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1D6A-7DC3-4E64-BF3B-1452E7C2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6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E0DA5-98B4-4A6C-843F-BBB17337D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B6D98-0E4E-4718-AAC9-54DB475E6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251C2-5188-471E-BDA5-BBDFF2FB4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5B62A7-2E8E-4BF1-AFCC-58243B918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6372AC-7343-491D-9E6B-E8EA62D492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C92D2D-39D9-4094-B876-06F04DD5B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A747-60E4-4216-A02A-046807B9A4A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FFBF03-D089-47D7-B910-D018CE8A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AB59E-DBA6-42EB-90D3-6CB20110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1D6A-7DC3-4E64-BF3B-1452E7C2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604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7E19A-9FCD-4FFF-A128-EAF74D378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E03D86-28A1-456D-ACE1-2B13376F5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A747-60E4-4216-A02A-046807B9A4A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5B25C-1DF8-4BEB-9A62-E74DF04E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B65AD-D3E1-49B2-8CCE-95DD4207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1D6A-7DC3-4E64-BF3B-1452E7C2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803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42F089-C03A-4C5D-A303-6A7CFD6A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A747-60E4-4216-A02A-046807B9A4A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D205A6-817B-4CAB-AA62-310739A8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DE052-2967-45AA-B082-AA8032DCC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1D6A-7DC3-4E64-BF3B-1452E7C2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5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E2587-571B-4E3C-AE9E-965F89D34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19BD0-0F41-49B6-B219-64F696F3F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E302D-DAE5-4FDC-B05D-5B8C1C1C7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98F4F-3BAF-4709-A559-44AB25299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A747-60E4-4216-A02A-046807B9A4A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6543-E4C6-4B3B-A5B4-3618FAAEA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6D792-9B36-4A9F-9995-A45326A8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1D6A-7DC3-4E64-BF3B-1452E7C2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492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80605-1892-4179-8E70-BB2A2BF34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286148-D5FA-4002-9DF8-A982C0CBF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19F50-F6EA-419D-BA04-54611463B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449B5-DBAD-4236-AEBE-9E25393EB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A747-60E4-4216-A02A-046807B9A4A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4E222-81B3-4F3F-9FB8-93396DCB9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9A796-0200-4909-A95B-704A164C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1D6A-7DC3-4E64-BF3B-1452E7C2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601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6F737-DD1A-4993-B6CC-A9DAF7CF1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44F7F-D462-4004-A24B-3CA54764A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FF26E-7DEC-487C-A582-2D49CF57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A747-60E4-4216-A02A-046807B9A4A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4203E-0C6C-40E2-BF68-A9DFAABE8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D6BD4-4517-4C9A-AFB7-8CB5B7B9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1D6A-7DC3-4E64-BF3B-1452E7C2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5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410ADE-1E51-4E39-B3D1-C4579D027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422288-8C9C-440B-90F4-EC93B14E1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F5BB8-E5BC-4959-B3F6-F560015FB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A747-60E4-4216-A02A-046807B9A4A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7154D-F955-410B-85FA-22EF6BBAA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BC60F-F866-4F86-9832-4975EFD8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1D6A-7DC3-4E64-BF3B-1452E7C2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53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2133C-C610-431B-8EC2-644C0EAFF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33BCB-DD18-4897-A232-BD5E5585D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29E77-3692-4E47-ACC6-3AB74544CD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4A747-60E4-4216-A02A-046807B9A4A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2E4D0-67D9-4AB8-BCA3-B30880EC0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564D5-38BB-4BC2-9963-24BA6AA4F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E1D6A-7DC3-4E64-BF3B-1452E7C2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92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54F5D3-9529-4718-AEBD-31502C151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911" y="2347912"/>
            <a:ext cx="2162175" cy="216217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2CA678-6592-4463-9977-F24C233BAA97}"/>
              </a:ext>
            </a:extLst>
          </p:cNvPr>
          <p:cNvSpPr txBox="1"/>
          <p:nvPr/>
        </p:nvSpPr>
        <p:spPr>
          <a:xfrm>
            <a:off x="4436267" y="4791521"/>
            <a:ext cx="3319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Engr. Jay O. </a:t>
            </a:r>
            <a:r>
              <a:rPr lang="en-US" sz="2400" dirty="0" err="1"/>
              <a:t>Jorolan</a:t>
            </a:r>
            <a:r>
              <a:rPr lang="en-US" sz="2400" dirty="0"/>
              <a:t>, ECT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34553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865730-EDA8-4521-A92C-C9E65D95D79C}"/>
              </a:ext>
            </a:extLst>
          </p:cNvPr>
          <p:cNvSpPr txBox="1"/>
          <p:nvPr/>
        </p:nvSpPr>
        <p:spPr>
          <a:xfrm>
            <a:off x="4461616" y="1085316"/>
            <a:ext cx="3268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 to Robotics</a:t>
            </a:r>
            <a:endParaRPr lang="en-GB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E16414-DD55-459F-8191-07E58BF6E804}"/>
              </a:ext>
            </a:extLst>
          </p:cNvPr>
          <p:cNvSpPr txBox="1"/>
          <p:nvPr/>
        </p:nvSpPr>
        <p:spPr>
          <a:xfrm>
            <a:off x="5608532" y="1767555"/>
            <a:ext cx="974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Robot </a:t>
            </a:r>
            <a:endParaRPr lang="en-GB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E02C0A-6174-42EF-903F-E2750FC03755}"/>
              </a:ext>
            </a:extLst>
          </p:cNvPr>
          <p:cNvSpPr txBox="1"/>
          <p:nvPr/>
        </p:nvSpPr>
        <p:spPr>
          <a:xfrm>
            <a:off x="810068" y="2551837"/>
            <a:ext cx="3581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1920:</a:t>
            </a:r>
            <a:r>
              <a:rPr lang="en-US" dirty="0"/>
              <a:t> The word "robot" was coined by Czech novelist Karel </a:t>
            </a:r>
            <a:r>
              <a:rPr lang="en-US" dirty="0" err="1"/>
              <a:t>Čapek</a:t>
            </a:r>
            <a:r>
              <a:rPr lang="en-US" dirty="0"/>
              <a:t> in his play titled </a:t>
            </a:r>
            <a:r>
              <a:rPr lang="en-US" i="1" dirty="0"/>
              <a:t>R.U.R.</a:t>
            </a:r>
            <a:r>
              <a:rPr lang="en-US" dirty="0"/>
              <a:t> (</a:t>
            </a:r>
            <a:r>
              <a:rPr lang="en-US" i="1" dirty="0"/>
              <a:t>Rossum’s Universal Robots</a:t>
            </a:r>
            <a:r>
              <a:rPr lang="en-US" dirty="0"/>
              <a:t>). The word comes from the Czech term for a worker or servant.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2853F1-5185-4F00-9E92-035BFD277FF6}"/>
              </a:ext>
            </a:extLst>
          </p:cNvPr>
          <p:cNvSpPr txBox="1"/>
          <p:nvPr/>
        </p:nvSpPr>
        <p:spPr>
          <a:xfrm>
            <a:off x="7730383" y="2828835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1954:</a:t>
            </a:r>
            <a:r>
              <a:rPr lang="en-US" dirty="0"/>
              <a:t> The first programmable industrial robot was designed by George </a:t>
            </a:r>
            <a:r>
              <a:rPr lang="en-US" dirty="0" err="1"/>
              <a:t>Devol</a:t>
            </a:r>
            <a:r>
              <a:rPr lang="en-US" dirty="0"/>
              <a:t>, who coined the term "Universal Automation"</a:t>
            </a:r>
            <a:endParaRPr lang="en-GB" dirty="0"/>
          </a:p>
        </p:txBody>
      </p:sp>
      <p:pic>
        <p:nvPicPr>
          <p:cNvPr id="3" name="Picture 2" descr="Čapek, Karel | united architects - essays">
            <a:extLst>
              <a:ext uri="{FF2B5EF4-FFF2-40B4-BE49-F238E27FC236}">
                <a16:creationId xmlns:a16="http://schemas.microsoft.com/office/drawing/2014/main" id="{3BCF35B3-6189-4178-8642-1A98D1F58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215" y="4376681"/>
            <a:ext cx="1297091" cy="1738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IHF Inductee George Devol Invented the Industrial Robot">
            <a:extLst>
              <a:ext uri="{FF2B5EF4-FFF2-40B4-BE49-F238E27FC236}">
                <a16:creationId xmlns:a16="http://schemas.microsoft.com/office/drawing/2014/main" id="{8E88B2D0-3389-4C23-9E64-AD1AE5B5F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514" y="4109264"/>
            <a:ext cx="1481137" cy="2071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365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865730-EDA8-4521-A92C-C9E65D95D79C}"/>
              </a:ext>
            </a:extLst>
          </p:cNvPr>
          <p:cNvSpPr txBox="1"/>
          <p:nvPr/>
        </p:nvSpPr>
        <p:spPr>
          <a:xfrm>
            <a:off x="4927362" y="902121"/>
            <a:ext cx="2337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Types of Robots</a:t>
            </a:r>
            <a:endParaRPr lang="en-GB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AE086F-3D08-4422-9F9A-9A90ABDD79C1}"/>
              </a:ext>
            </a:extLst>
          </p:cNvPr>
          <p:cNvSpPr txBox="1"/>
          <p:nvPr/>
        </p:nvSpPr>
        <p:spPr>
          <a:xfrm>
            <a:off x="534823" y="1907903"/>
            <a:ext cx="1977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Manipulator Robot</a:t>
            </a:r>
            <a:endParaRPr lang="en-GB" dirty="0"/>
          </a:p>
        </p:txBody>
      </p:sp>
      <p:pic>
        <p:nvPicPr>
          <p:cNvPr id="2050" name="Picture 2" descr="How Does a Robotic Manipulator Work?">
            <a:extLst>
              <a:ext uri="{FF2B5EF4-FFF2-40B4-BE49-F238E27FC236}">
                <a16:creationId xmlns:a16="http://schemas.microsoft.com/office/drawing/2014/main" id="{4CA4924D-C59D-4142-8978-D48F85455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59" y="2825926"/>
            <a:ext cx="1851767" cy="206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581E45-926C-4AE8-8CB2-C43AB9348315}"/>
              </a:ext>
            </a:extLst>
          </p:cNvPr>
          <p:cNvSpPr txBox="1"/>
          <p:nvPr/>
        </p:nvSpPr>
        <p:spPr>
          <a:xfrm>
            <a:off x="3755164" y="1907903"/>
            <a:ext cx="1731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Legged Robot</a:t>
            </a:r>
            <a:endParaRPr lang="en-GB" dirty="0"/>
          </a:p>
        </p:txBody>
      </p:sp>
      <p:pic>
        <p:nvPicPr>
          <p:cNvPr id="2052" name="Picture 4" descr="Six-legged robots faster than nature-inspired gait">
            <a:extLst>
              <a:ext uri="{FF2B5EF4-FFF2-40B4-BE49-F238E27FC236}">
                <a16:creationId xmlns:a16="http://schemas.microsoft.com/office/drawing/2014/main" id="{355AD06E-08BD-44F3-885B-846E3F21F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380" y="3053875"/>
            <a:ext cx="2290337" cy="152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E35D34-82C4-4D0E-AFFE-EC4D05578F5C}"/>
              </a:ext>
            </a:extLst>
          </p:cNvPr>
          <p:cNvSpPr txBox="1"/>
          <p:nvPr/>
        </p:nvSpPr>
        <p:spPr>
          <a:xfrm>
            <a:off x="6729100" y="1907903"/>
            <a:ext cx="1731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Wheeled Robot</a:t>
            </a:r>
            <a:endParaRPr lang="en-GB" dirty="0"/>
          </a:p>
        </p:txBody>
      </p:sp>
      <p:pic>
        <p:nvPicPr>
          <p:cNvPr id="2054" name="Picture 6" descr="Wheeled Platform | AMBOT | American Robot Company">
            <a:extLst>
              <a:ext uri="{FF2B5EF4-FFF2-40B4-BE49-F238E27FC236}">
                <a16:creationId xmlns:a16="http://schemas.microsoft.com/office/drawing/2014/main" id="{4DB888F4-2BA4-46D7-A859-A58768CF1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101" y="3053875"/>
            <a:ext cx="2653233" cy="152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DAB3F-6EBA-4D0E-9302-898CA780DB08}"/>
              </a:ext>
            </a:extLst>
          </p:cNvPr>
          <p:cNvSpPr txBox="1"/>
          <p:nvPr/>
        </p:nvSpPr>
        <p:spPr>
          <a:xfrm>
            <a:off x="9475503" y="3494154"/>
            <a:ext cx="3240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are the purpose of Robots?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813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AE086F-3D08-4422-9F9A-9A90ABDD79C1}"/>
              </a:ext>
            </a:extLst>
          </p:cNvPr>
          <p:cNvSpPr txBox="1"/>
          <p:nvPr/>
        </p:nvSpPr>
        <p:spPr>
          <a:xfrm>
            <a:off x="534823" y="1993956"/>
            <a:ext cx="2652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Jobs that are dangerous for humans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7DAB3F-6EBA-4D0E-9302-898CA780DB08}"/>
              </a:ext>
            </a:extLst>
          </p:cNvPr>
          <p:cNvSpPr txBox="1"/>
          <p:nvPr/>
        </p:nvSpPr>
        <p:spPr>
          <a:xfrm>
            <a:off x="4799530" y="879140"/>
            <a:ext cx="3240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are the purpose of Robots?</a:t>
            </a:r>
            <a:endParaRPr lang="en-GB" dirty="0"/>
          </a:p>
        </p:txBody>
      </p:sp>
      <p:pic>
        <p:nvPicPr>
          <p:cNvPr id="3074" name="Picture 2" descr="Sludge Cleaning Robot | Underwater Pipeline Sludge Clean Robot">
            <a:extLst>
              <a:ext uri="{FF2B5EF4-FFF2-40B4-BE49-F238E27FC236}">
                <a16:creationId xmlns:a16="http://schemas.microsoft.com/office/drawing/2014/main" id="{B78A66F8-C5F1-4801-ACF0-512ED5FFF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12" y="3309606"/>
            <a:ext cx="2480430" cy="1988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A6FF3A-892F-4EE4-96CA-32CD0F808952}"/>
              </a:ext>
            </a:extLst>
          </p:cNvPr>
          <p:cNvSpPr txBox="1"/>
          <p:nvPr/>
        </p:nvSpPr>
        <p:spPr>
          <a:xfrm>
            <a:off x="472112" y="2940274"/>
            <a:ext cx="2652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Decontaminating Robot</a:t>
            </a:r>
            <a:endParaRPr lang="en-GB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040FF9-4A89-40F2-A400-21F4937BA59C}"/>
              </a:ext>
            </a:extLst>
          </p:cNvPr>
          <p:cNvSpPr txBox="1"/>
          <p:nvPr/>
        </p:nvSpPr>
        <p:spPr>
          <a:xfrm>
            <a:off x="4532830" y="1993956"/>
            <a:ext cx="1563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Welding Robot</a:t>
            </a:r>
            <a:endParaRPr lang="en-GB" dirty="0"/>
          </a:p>
        </p:txBody>
      </p:sp>
      <p:pic>
        <p:nvPicPr>
          <p:cNvPr id="3076" name="Picture 4" descr="ABB Robotics - Arc Welding">
            <a:extLst>
              <a:ext uri="{FF2B5EF4-FFF2-40B4-BE49-F238E27FC236}">
                <a16:creationId xmlns:a16="http://schemas.microsoft.com/office/drawing/2014/main" id="{ED3469E9-5F0A-4531-946E-C8EBF1340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508" y="3306380"/>
            <a:ext cx="2652758" cy="1984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210DF12-7976-4F7A-B91A-442C69474BA7}"/>
              </a:ext>
            </a:extLst>
          </p:cNvPr>
          <p:cNvSpPr txBox="1"/>
          <p:nvPr/>
        </p:nvSpPr>
        <p:spPr>
          <a:xfrm>
            <a:off x="8207522" y="2040122"/>
            <a:ext cx="2652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Menial tasks that human doesn’t want to do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5D27F3-2FAF-4563-877F-8A3AD7B95EFB}"/>
              </a:ext>
            </a:extLst>
          </p:cNvPr>
          <p:cNvSpPr txBox="1"/>
          <p:nvPr/>
        </p:nvSpPr>
        <p:spPr>
          <a:xfrm>
            <a:off x="8603446" y="2940274"/>
            <a:ext cx="2256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Scrubmate</a:t>
            </a:r>
            <a:r>
              <a:rPr lang="en-US" b="1" dirty="0"/>
              <a:t> Robot</a:t>
            </a:r>
            <a:endParaRPr lang="en-GB" b="1" dirty="0"/>
          </a:p>
        </p:txBody>
      </p:sp>
      <p:pic>
        <p:nvPicPr>
          <p:cNvPr id="3078" name="Picture 6" descr="Robots Finally Learning to Clean the Bathroom - IEEE Spectrum">
            <a:extLst>
              <a:ext uri="{FF2B5EF4-FFF2-40B4-BE49-F238E27FC236}">
                <a16:creationId xmlns:a16="http://schemas.microsoft.com/office/drawing/2014/main" id="{1C153CA5-7467-49A3-981E-897B09364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134" y="3306380"/>
            <a:ext cx="3418601" cy="192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195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DAB3F-6EBA-4D0E-9302-898CA780DB08}"/>
              </a:ext>
            </a:extLst>
          </p:cNvPr>
          <p:cNvSpPr txBox="1"/>
          <p:nvPr/>
        </p:nvSpPr>
        <p:spPr>
          <a:xfrm>
            <a:off x="4475680" y="836411"/>
            <a:ext cx="3240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world's first industrial robot</a:t>
            </a:r>
            <a:endParaRPr lang="en-GB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CA519D-19F2-432B-ADF4-C48BD3C50C88}"/>
              </a:ext>
            </a:extLst>
          </p:cNvPr>
          <p:cNvSpPr txBox="1"/>
          <p:nvPr/>
        </p:nvSpPr>
        <p:spPr>
          <a:xfrm>
            <a:off x="5586365" y="1484467"/>
            <a:ext cx="1173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UNIMATE</a:t>
            </a:r>
            <a:endParaRPr lang="en-GB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B842B2-C518-4610-B92B-9C9748ADDC9A}"/>
              </a:ext>
            </a:extLst>
          </p:cNvPr>
          <p:cNvSpPr txBox="1"/>
          <p:nvPr/>
        </p:nvSpPr>
        <p:spPr>
          <a:xfrm>
            <a:off x="577551" y="3699440"/>
            <a:ext cx="2652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was designed in </a:t>
            </a:r>
            <a:r>
              <a:rPr lang="en-US" b="1" dirty="0"/>
              <a:t>1954</a:t>
            </a:r>
            <a:r>
              <a:rPr lang="en-US" dirty="0"/>
              <a:t> by George </a:t>
            </a:r>
            <a:r>
              <a:rPr lang="en-US" dirty="0" err="1"/>
              <a:t>Devol</a:t>
            </a:r>
            <a:r>
              <a:rPr lang="en-US" dirty="0"/>
              <a:t> and installed in </a:t>
            </a:r>
            <a:r>
              <a:rPr lang="en-US" b="1" dirty="0"/>
              <a:t>1961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37792F-02D9-47C2-8D5E-32796FC72251}"/>
              </a:ext>
            </a:extLst>
          </p:cNvPr>
          <p:cNvSpPr txBox="1"/>
          <p:nvPr/>
        </p:nvSpPr>
        <p:spPr>
          <a:xfrm>
            <a:off x="4649979" y="3837939"/>
            <a:ext cx="2652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worked at a </a:t>
            </a:r>
            <a:r>
              <a:rPr lang="en-US" b="1" dirty="0"/>
              <a:t>General Motors</a:t>
            </a:r>
            <a:r>
              <a:rPr lang="en-US" dirty="0"/>
              <a:t> assembly line.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01A995-F7B9-41E8-AAF9-D1208BF6168B}"/>
              </a:ext>
            </a:extLst>
          </p:cNvPr>
          <p:cNvSpPr txBox="1"/>
          <p:nvPr/>
        </p:nvSpPr>
        <p:spPr>
          <a:xfrm>
            <a:off x="8417250" y="3560939"/>
            <a:ext cx="3444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lifted hot pieces of die-cast metal and welded them onto car bodies (a job too dangerous for humans).</a:t>
            </a:r>
            <a:endParaRPr lang="en-GB" dirty="0"/>
          </a:p>
        </p:txBody>
      </p:sp>
      <p:pic>
        <p:nvPicPr>
          <p:cNvPr id="4098" name="Picture 2" descr="The Unimate- The first Industrial Robot">
            <a:extLst>
              <a:ext uri="{FF2B5EF4-FFF2-40B4-BE49-F238E27FC236}">
                <a16:creationId xmlns:a16="http://schemas.microsoft.com/office/drawing/2014/main" id="{A113D9AE-995E-4B36-8603-C88AA227B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68" y="933422"/>
            <a:ext cx="3743367" cy="2495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482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DAB3F-6EBA-4D0E-9302-898CA780DB08}"/>
              </a:ext>
            </a:extLst>
          </p:cNvPr>
          <p:cNvSpPr txBox="1"/>
          <p:nvPr/>
        </p:nvSpPr>
        <p:spPr>
          <a:xfrm>
            <a:off x="4877066" y="819320"/>
            <a:ext cx="243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Classification of Robots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43444E-864C-458D-826F-130E8B4F32FE}"/>
              </a:ext>
            </a:extLst>
          </p:cNvPr>
          <p:cNvSpPr txBox="1"/>
          <p:nvPr/>
        </p:nvSpPr>
        <p:spPr>
          <a:xfrm>
            <a:off x="639417" y="4151103"/>
            <a:ext cx="26527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robotic arm. It is designed to move, grip, and handle objects in one fixed spot.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B423FE-6F06-4720-BC1B-5553A023E3B4}"/>
              </a:ext>
            </a:extLst>
          </p:cNvPr>
          <p:cNvSpPr txBox="1"/>
          <p:nvPr/>
        </p:nvSpPr>
        <p:spPr>
          <a:xfrm>
            <a:off x="751168" y="1686951"/>
            <a:ext cx="226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Robotic Manipulators</a:t>
            </a: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837C1B-4D19-44F9-A9F9-CE2F9777BC7D}"/>
              </a:ext>
            </a:extLst>
          </p:cNvPr>
          <p:cNvSpPr txBox="1"/>
          <p:nvPr/>
        </p:nvSpPr>
        <p:spPr>
          <a:xfrm>
            <a:off x="9000446" y="1893028"/>
            <a:ext cx="1671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Mobile Robots</a:t>
            </a:r>
            <a:endParaRPr lang="en-GB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FB90AC-773A-4EA7-AF7E-9975ED066FA8}"/>
              </a:ext>
            </a:extLst>
          </p:cNvPr>
          <p:cNvSpPr txBox="1"/>
          <p:nvPr/>
        </p:nvSpPr>
        <p:spPr>
          <a:xfrm>
            <a:off x="8662589" y="4151103"/>
            <a:ext cx="26527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robot on wheels, tracks, or legs. It is designed to travel and move around from one location to another.</a:t>
            </a:r>
          </a:p>
        </p:txBody>
      </p:sp>
      <p:pic>
        <p:nvPicPr>
          <p:cNvPr id="5122" name="Picture 2" descr="What is a Robotic Manipulator?">
            <a:extLst>
              <a:ext uri="{FF2B5EF4-FFF2-40B4-BE49-F238E27FC236}">
                <a16:creationId xmlns:a16="http://schemas.microsoft.com/office/drawing/2014/main" id="{FBAE4AA4-D316-47E0-AFB2-684375D71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" y="2068442"/>
            <a:ext cx="2813373" cy="1957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mobile robot with track wheels monitors open windows at home">
            <a:extLst>
              <a:ext uri="{FF2B5EF4-FFF2-40B4-BE49-F238E27FC236}">
                <a16:creationId xmlns:a16="http://schemas.microsoft.com/office/drawing/2014/main" id="{5734A191-F576-4571-BF80-719CE2440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6961" y="2399286"/>
            <a:ext cx="2958386" cy="1551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564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DAB3F-6EBA-4D0E-9302-898CA780DB08}"/>
              </a:ext>
            </a:extLst>
          </p:cNvPr>
          <p:cNvSpPr txBox="1"/>
          <p:nvPr/>
        </p:nvSpPr>
        <p:spPr>
          <a:xfrm>
            <a:off x="4975209" y="845618"/>
            <a:ext cx="2241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Robots Works?</a:t>
            </a: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CAC77F-3FE3-4729-83D0-E6368670186A}"/>
              </a:ext>
            </a:extLst>
          </p:cNvPr>
          <p:cNvSpPr txBox="1"/>
          <p:nvPr/>
        </p:nvSpPr>
        <p:spPr>
          <a:xfrm>
            <a:off x="5549401" y="1317618"/>
            <a:ext cx="1005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Sensors</a:t>
            </a:r>
            <a:endParaRPr lang="en-GB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206D54-D7D9-4671-89B8-1C2613383811}"/>
              </a:ext>
            </a:extLst>
          </p:cNvPr>
          <p:cNvSpPr txBox="1"/>
          <p:nvPr/>
        </p:nvSpPr>
        <p:spPr>
          <a:xfrm>
            <a:off x="845172" y="2011691"/>
            <a:ext cx="226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Vision Sensors</a:t>
            </a:r>
            <a:endParaRPr lang="en-GB" b="1" dirty="0"/>
          </a:p>
        </p:txBody>
      </p:sp>
      <p:pic>
        <p:nvPicPr>
          <p:cNvPr id="6146" name="Picture 2" descr="Vision Sensor - IV series | KEYENCE Philippines">
            <a:extLst>
              <a:ext uri="{FF2B5EF4-FFF2-40B4-BE49-F238E27FC236}">
                <a16:creationId xmlns:a16="http://schemas.microsoft.com/office/drawing/2014/main" id="{0C26EEA1-A2CC-4CF9-A381-E2F4308A3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31" y="2466129"/>
            <a:ext cx="2268642" cy="226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95EB863-1F88-4B3F-9486-F8B80BCC1680}"/>
              </a:ext>
            </a:extLst>
          </p:cNvPr>
          <p:cNvSpPr txBox="1"/>
          <p:nvPr/>
        </p:nvSpPr>
        <p:spPr>
          <a:xfrm>
            <a:off x="4552861" y="2009744"/>
            <a:ext cx="226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Proximity Sensors</a:t>
            </a:r>
            <a:endParaRPr lang="en-GB" b="1" dirty="0"/>
          </a:p>
        </p:txBody>
      </p:sp>
      <p:pic>
        <p:nvPicPr>
          <p:cNvPr id="6150" name="Picture 6" descr="Proximity Sensors and Their Usage in Access Control Systems | Spectra">
            <a:extLst>
              <a:ext uri="{FF2B5EF4-FFF2-40B4-BE49-F238E27FC236}">
                <a16:creationId xmlns:a16="http://schemas.microsoft.com/office/drawing/2014/main" id="{CEEA3C8D-0A71-4ABB-81E1-E5E53BE53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586" y="2497635"/>
            <a:ext cx="3988928" cy="227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CE7D593-ABFA-4CDC-A0D0-3775D2417E8F}"/>
              </a:ext>
            </a:extLst>
          </p:cNvPr>
          <p:cNvSpPr txBox="1"/>
          <p:nvPr/>
        </p:nvSpPr>
        <p:spPr>
          <a:xfrm>
            <a:off x="8861529" y="2011691"/>
            <a:ext cx="1458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Tilt Sensors</a:t>
            </a:r>
            <a:endParaRPr lang="en-GB" b="1" dirty="0"/>
          </a:p>
        </p:txBody>
      </p:sp>
      <p:pic>
        <p:nvPicPr>
          <p:cNvPr id="6152" name="Picture 8" descr="Tilt Sensor Module - Mercury-Free Ball-Switch">
            <a:extLst>
              <a:ext uri="{FF2B5EF4-FFF2-40B4-BE49-F238E27FC236}">
                <a16:creationId xmlns:a16="http://schemas.microsoft.com/office/drawing/2014/main" id="{9320608E-0E8C-4AD8-B079-54F21C0F0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027" y="2477166"/>
            <a:ext cx="3079816" cy="232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936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  <p:bldP spid="15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DAB3F-6EBA-4D0E-9302-898CA780DB08}"/>
              </a:ext>
            </a:extLst>
          </p:cNvPr>
          <p:cNvSpPr txBox="1"/>
          <p:nvPr/>
        </p:nvSpPr>
        <p:spPr>
          <a:xfrm>
            <a:off x="4975209" y="845618"/>
            <a:ext cx="2241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Robots Works?</a:t>
            </a: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CAC77F-3FE3-4729-83D0-E6368670186A}"/>
              </a:ext>
            </a:extLst>
          </p:cNvPr>
          <p:cNvSpPr txBox="1"/>
          <p:nvPr/>
        </p:nvSpPr>
        <p:spPr>
          <a:xfrm>
            <a:off x="5549401" y="1317618"/>
            <a:ext cx="1005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Sensors</a:t>
            </a:r>
            <a:endParaRPr lang="en-GB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206D54-D7D9-4671-89B8-1C2613383811}"/>
              </a:ext>
            </a:extLst>
          </p:cNvPr>
          <p:cNvSpPr txBox="1"/>
          <p:nvPr/>
        </p:nvSpPr>
        <p:spPr>
          <a:xfrm>
            <a:off x="5483285" y="2325810"/>
            <a:ext cx="113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Actuators</a:t>
            </a:r>
            <a:endParaRPr lang="en-GB" b="1" dirty="0"/>
          </a:p>
        </p:txBody>
      </p:sp>
      <p:pic>
        <p:nvPicPr>
          <p:cNvPr id="7172" name="Picture 4" descr="Controllers, Sensors &amp; Actuators in Robotics Guide – Robocraze">
            <a:extLst>
              <a:ext uri="{FF2B5EF4-FFF2-40B4-BE49-F238E27FC236}">
                <a16:creationId xmlns:a16="http://schemas.microsoft.com/office/drawing/2014/main" id="{D7B1C73F-6822-4BE8-81CD-F7224A45E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862" y="2774778"/>
            <a:ext cx="3710299" cy="247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407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DAB3F-6EBA-4D0E-9302-898CA780DB08}"/>
              </a:ext>
            </a:extLst>
          </p:cNvPr>
          <p:cNvSpPr txBox="1"/>
          <p:nvPr/>
        </p:nvSpPr>
        <p:spPr>
          <a:xfrm>
            <a:off x="4975209" y="845618"/>
            <a:ext cx="2241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Robots Works?</a:t>
            </a: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CAC77F-3FE3-4729-83D0-E6368670186A}"/>
              </a:ext>
            </a:extLst>
          </p:cNvPr>
          <p:cNvSpPr txBox="1"/>
          <p:nvPr/>
        </p:nvSpPr>
        <p:spPr>
          <a:xfrm>
            <a:off x="5470102" y="1411622"/>
            <a:ext cx="125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Controllers</a:t>
            </a:r>
            <a:endParaRPr lang="en-GB" b="1" dirty="0"/>
          </a:p>
        </p:txBody>
      </p:sp>
      <p:pic>
        <p:nvPicPr>
          <p:cNvPr id="8194" name="Picture 2" descr="TalkBotBrain - Robot Controllers.">
            <a:extLst>
              <a:ext uri="{FF2B5EF4-FFF2-40B4-BE49-F238E27FC236}">
                <a16:creationId xmlns:a16="http://schemas.microsoft.com/office/drawing/2014/main" id="{C695C71F-CA19-4C95-A9B3-54925E9FC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036" y="2154653"/>
            <a:ext cx="473392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520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DAB3F-6EBA-4D0E-9302-898CA780DB08}"/>
              </a:ext>
            </a:extLst>
          </p:cNvPr>
          <p:cNvSpPr txBox="1"/>
          <p:nvPr/>
        </p:nvSpPr>
        <p:spPr>
          <a:xfrm>
            <a:off x="3952160" y="946981"/>
            <a:ext cx="4287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Components/app needed in this subject?</a:t>
            </a:r>
            <a:endParaRPr lang="en-GB" b="1" dirty="0"/>
          </a:p>
        </p:txBody>
      </p:sp>
      <p:pic>
        <p:nvPicPr>
          <p:cNvPr id="9218" name="Picture 2" descr="Type C ESP32 Development Board 30 pins 38 pins">
            <a:extLst>
              <a:ext uri="{FF2B5EF4-FFF2-40B4-BE49-F238E27FC236}">
                <a16:creationId xmlns:a16="http://schemas.microsoft.com/office/drawing/2014/main" id="{98707148-1E20-4625-9061-2E911158A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55" y="2137652"/>
            <a:ext cx="2801106" cy="2801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8B08A4-44F0-49BB-88BC-DDF677251DAD}"/>
              </a:ext>
            </a:extLst>
          </p:cNvPr>
          <p:cNvSpPr txBox="1"/>
          <p:nvPr/>
        </p:nvSpPr>
        <p:spPr>
          <a:xfrm>
            <a:off x="638019" y="2356146"/>
            <a:ext cx="2588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Esp</a:t>
            </a:r>
            <a:r>
              <a:rPr lang="en-US" b="1" dirty="0"/>
              <a:t> 32 With </a:t>
            </a:r>
            <a:r>
              <a:rPr lang="en-US" b="1" dirty="0" err="1"/>
              <a:t>WiFi</a:t>
            </a:r>
            <a:r>
              <a:rPr lang="en-US" b="1" dirty="0"/>
              <a:t> Module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30A4A-8FB6-48FA-A55A-6E575FA5268B}"/>
              </a:ext>
            </a:extLst>
          </p:cNvPr>
          <p:cNvSpPr txBox="1"/>
          <p:nvPr/>
        </p:nvSpPr>
        <p:spPr>
          <a:xfrm>
            <a:off x="5054770" y="2356146"/>
            <a:ext cx="525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Led</a:t>
            </a:r>
            <a:endParaRPr lang="en-GB" b="1" dirty="0"/>
          </a:p>
        </p:txBody>
      </p:sp>
      <p:pic>
        <p:nvPicPr>
          <p:cNvPr id="9220" name="Picture 4" descr="Lite-On 2.6 V Red LED 5 mm Through Hole LTL">
            <a:extLst>
              <a:ext uri="{FF2B5EF4-FFF2-40B4-BE49-F238E27FC236}">
                <a16:creationId xmlns:a16="http://schemas.microsoft.com/office/drawing/2014/main" id="{A55ACA3C-2178-46ED-A442-388DB4F4B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950" y="3087221"/>
            <a:ext cx="2473900" cy="138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5D3E13-AA80-4045-9F3E-75F3DB16F3FE}"/>
              </a:ext>
            </a:extLst>
          </p:cNvPr>
          <p:cNvSpPr txBox="1"/>
          <p:nvPr/>
        </p:nvSpPr>
        <p:spPr>
          <a:xfrm>
            <a:off x="8049591" y="2262142"/>
            <a:ext cx="2801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Resistors</a:t>
            </a:r>
          </a:p>
          <a:p>
            <a:r>
              <a:rPr lang="en-US" b="1" dirty="0"/>
              <a:t>E.g. 470 ohms &amp; 1K ohms </a:t>
            </a:r>
            <a:endParaRPr lang="en-GB" b="1" dirty="0"/>
          </a:p>
        </p:txBody>
      </p:sp>
      <p:pic>
        <p:nvPicPr>
          <p:cNvPr id="9222" name="Picture 6" descr="RS PRO 1 kΩ Carbon Film Resistor 1 W 5 %">
            <a:extLst>
              <a:ext uri="{FF2B5EF4-FFF2-40B4-BE49-F238E27FC236}">
                <a16:creationId xmlns:a16="http://schemas.microsoft.com/office/drawing/2014/main" id="{A2752B7B-CFD2-47AF-B4DD-19E66F543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173" y="3094901"/>
            <a:ext cx="2588579" cy="1452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470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  <p:bldP spid="9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DAB3F-6EBA-4D0E-9302-898CA780DB08}"/>
              </a:ext>
            </a:extLst>
          </p:cNvPr>
          <p:cNvSpPr txBox="1"/>
          <p:nvPr/>
        </p:nvSpPr>
        <p:spPr>
          <a:xfrm>
            <a:off x="3952160" y="946981"/>
            <a:ext cx="4287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Components/app needed in this subject?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8B08A4-44F0-49BB-88BC-DDF677251DAD}"/>
              </a:ext>
            </a:extLst>
          </p:cNvPr>
          <p:cNvSpPr txBox="1"/>
          <p:nvPr/>
        </p:nvSpPr>
        <p:spPr>
          <a:xfrm>
            <a:off x="638019" y="2356146"/>
            <a:ext cx="2588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Push button Switch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30A4A-8FB6-48FA-A55A-6E575FA5268B}"/>
              </a:ext>
            </a:extLst>
          </p:cNvPr>
          <p:cNvSpPr txBox="1"/>
          <p:nvPr/>
        </p:nvSpPr>
        <p:spPr>
          <a:xfrm>
            <a:off x="5282037" y="2389186"/>
            <a:ext cx="1704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Breadboard</a:t>
            </a:r>
            <a:endParaRPr lang="en-GB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5D3E13-AA80-4045-9F3E-75F3DB16F3FE}"/>
              </a:ext>
            </a:extLst>
          </p:cNvPr>
          <p:cNvSpPr txBox="1"/>
          <p:nvPr/>
        </p:nvSpPr>
        <p:spPr>
          <a:xfrm>
            <a:off x="9237457" y="2356146"/>
            <a:ext cx="2025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Connecting Wires</a:t>
            </a:r>
            <a:endParaRPr lang="en-GB" b="1" dirty="0"/>
          </a:p>
        </p:txBody>
      </p:sp>
      <p:pic>
        <p:nvPicPr>
          <p:cNvPr id="10242" name="Picture 2" descr="Idec LB Series Illuminated Push Button Switch, Momentary, 16 mm Cutout, DPDT, IP65, 30 V dc 125 V ac">
            <a:extLst>
              <a:ext uri="{FF2B5EF4-FFF2-40B4-BE49-F238E27FC236}">
                <a16:creationId xmlns:a16="http://schemas.microsoft.com/office/drawing/2014/main" id="{08B1A788-9093-41B2-8ACC-CF467AC6C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19" y="3195601"/>
            <a:ext cx="2037059" cy="114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64 ADAFRUIT, BREAD BOARD, PROTOTYPE ELECTRONICS PROJE | element14 Philippines">
            <a:extLst>
              <a:ext uri="{FF2B5EF4-FFF2-40B4-BE49-F238E27FC236}">
                <a16:creationId xmlns:a16="http://schemas.microsoft.com/office/drawing/2014/main" id="{3F219DA5-8D2C-4388-A4C1-5225EBA72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392" y="2758518"/>
            <a:ext cx="2962987" cy="201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Male to Male Connecting Wires - 20CM - robboquad">
            <a:extLst>
              <a:ext uri="{FF2B5EF4-FFF2-40B4-BE49-F238E27FC236}">
                <a16:creationId xmlns:a16="http://schemas.microsoft.com/office/drawing/2014/main" id="{12616A81-64EB-4BAA-9947-0B599D0C5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30" y="2725478"/>
            <a:ext cx="2415954" cy="2415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067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  <p:bldP spid="9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DAB3F-6EBA-4D0E-9302-898CA780DB08}"/>
              </a:ext>
            </a:extLst>
          </p:cNvPr>
          <p:cNvSpPr txBox="1"/>
          <p:nvPr/>
        </p:nvSpPr>
        <p:spPr>
          <a:xfrm>
            <a:off x="3952160" y="946981"/>
            <a:ext cx="4287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Components/app needed in this subject?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30A4A-8FB6-48FA-A55A-6E575FA5268B}"/>
              </a:ext>
            </a:extLst>
          </p:cNvPr>
          <p:cNvSpPr txBox="1"/>
          <p:nvPr/>
        </p:nvSpPr>
        <p:spPr>
          <a:xfrm>
            <a:off x="5282037" y="2389186"/>
            <a:ext cx="1704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Remote XY</a:t>
            </a:r>
            <a:endParaRPr lang="en-GB" b="1" dirty="0"/>
          </a:p>
        </p:txBody>
      </p:sp>
      <p:pic>
        <p:nvPicPr>
          <p:cNvPr id="10248" name="Picture 8" descr="RemoteXY: Arduino control - Apps on Google Play">
            <a:extLst>
              <a:ext uri="{FF2B5EF4-FFF2-40B4-BE49-F238E27FC236}">
                <a16:creationId xmlns:a16="http://schemas.microsoft.com/office/drawing/2014/main" id="{B93AEE47-DAD8-4821-A08B-4AA0FFB3B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061" y="3195263"/>
            <a:ext cx="2346767" cy="2346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Remote control Arduino - RemoteXY">
            <a:extLst>
              <a:ext uri="{FF2B5EF4-FFF2-40B4-BE49-F238E27FC236}">
                <a16:creationId xmlns:a16="http://schemas.microsoft.com/office/drawing/2014/main" id="{8ADF61F6-631F-4CD8-BDF9-2036BF521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669" y="3195263"/>
            <a:ext cx="2758333" cy="249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859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324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39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551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264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303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8DBE08B1-679F-446E-A07E-CC6C806E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0" y="-3486150"/>
            <a:ext cx="147447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ge 2 | Black website background Images - Free Download on Freepik">
            <a:extLst>
              <a:ext uri="{FF2B5EF4-FFF2-40B4-BE49-F238E27FC236}">
                <a16:creationId xmlns:a16="http://schemas.microsoft.com/office/drawing/2014/main" id="{6F62BA49-1889-4871-A703-D425FE10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300" y="6457950"/>
            <a:ext cx="13639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164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291</Words>
  <Application>Microsoft Office PowerPoint</Application>
  <PresentationFormat>Widescreen</PresentationFormat>
  <Paragraphs>47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ruben theulen</dc:creator>
  <cp:lastModifiedBy>ruben theulen</cp:lastModifiedBy>
  <cp:revision>27</cp:revision>
  <dcterms:created xsi:type="dcterms:W3CDTF">2026-06-18T07:03:38Z</dcterms:created>
  <dcterms:modified xsi:type="dcterms:W3CDTF">2026-06-23T14:42:36Z</dcterms:modified>
</cp:coreProperties>
</file>